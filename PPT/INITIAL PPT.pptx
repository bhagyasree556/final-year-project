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331" r:id="rId3"/>
    <p:sldId id="261" r:id="rId4"/>
    <p:sldId id="357" r:id="rId5"/>
    <p:sldId id="275" r:id="rId6"/>
    <p:sldId id="276" r:id="rId7"/>
    <p:sldId id="264" r:id="rId8"/>
    <p:sldId id="277" r:id="rId9"/>
    <p:sldId id="257" r:id="rId10"/>
    <p:sldId id="358" r:id="rId11"/>
    <p:sldId id="359" r:id="rId12"/>
    <p:sldId id="278" r:id="rId13"/>
    <p:sldId id="266" r:id="rId14"/>
    <p:sldId id="267" r:id="rId15"/>
    <p:sldId id="268" r:id="rId16"/>
    <p:sldId id="281" r:id="rId17"/>
    <p:sldId id="269" r:id="rId18"/>
    <p:sldId id="289" r:id="rId19"/>
    <p:sldId id="274" r:id="rId20"/>
    <p:sldId id="328" r:id="rId21"/>
    <p:sldId id="329" r:id="rId22"/>
    <p:sldId id="330" r:id="rId23"/>
    <p:sldId id="273" r:id="rId24"/>
    <p:sldId id="35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15" autoAdjust="0"/>
    <p:restoredTop sz="94660"/>
  </p:normalViewPr>
  <p:slideViewPr>
    <p:cSldViewPr snapToGrid="0">
      <p:cViewPr varScale="1">
        <p:scale>
          <a:sx n="73" d="100"/>
          <a:sy n="73" d="100"/>
        </p:scale>
        <p:origin x="7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978D5-E25E-4E22-8B9B-A05C7337CF8A}"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1B089-C02F-496E-B658-0E028041A8AD}" type="slidenum">
              <a:rPr lang="en-IN" smtClean="0"/>
              <a:t>‹#›</a:t>
            </a:fld>
            <a:endParaRPr lang="en-IN"/>
          </a:p>
        </p:txBody>
      </p:sp>
    </p:spTree>
    <p:extLst>
      <p:ext uri="{BB962C8B-B14F-4D97-AF65-F5344CB8AC3E}">
        <p14:creationId xmlns:p14="http://schemas.microsoft.com/office/powerpoint/2010/main" val="117241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2/10/2026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2/10/2026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ieeexplore.ieee.org/stamp/stamp.jsp?arnumber=8718621" TargetMode="External"/><Relationship Id="rId2" Type="http://schemas.openxmlformats.org/officeDocument/2006/relationships/hyperlink" Target="https://ieeexplore.ieee.org/document/9395886" TargetMode="External"/><Relationship Id="rId1" Type="http://schemas.openxmlformats.org/officeDocument/2006/relationships/slideLayout" Target="../slideLayouts/slideLayout7.xml"/><Relationship Id="rId5" Type="http://schemas.openxmlformats.org/officeDocument/2006/relationships/hyperlink" Target="https://darpg.gov.in/sites/default/files/eNAM%20Best%20Practices_0.pdf" TargetMode="External"/><Relationship Id="rId4" Type="http://schemas.openxmlformats.org/officeDocument/2006/relationships/hyperlink" Target="https://agritech.tnau.ac.in/agricultural_marketing/agrimark_India.html"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s://www.ft.com/content/225d32bc-4dfa-11e8-97e4-13afc22d86d4"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1583-C68D-11CE-B2FE-BB85561F40D3}"/>
              </a:ext>
            </a:extLst>
          </p:cNvPr>
          <p:cNvSpPr>
            <a:spLocks noGrp="1"/>
          </p:cNvSpPr>
          <p:nvPr>
            <p:ph type="ctrTitle"/>
          </p:nvPr>
        </p:nvSpPr>
        <p:spPr>
          <a:xfrm>
            <a:off x="1777950" y="1600200"/>
            <a:ext cx="9630948" cy="3337560"/>
          </a:xfrm>
        </p:spPr>
        <p:txBody>
          <a:bodyPr>
            <a:normAutofit/>
          </a:bodyPr>
          <a:lstStyle/>
          <a:p>
            <a:pPr algn="ctr">
              <a:lnSpc>
                <a:spcPct val="150000"/>
              </a:lnSpc>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Decentralized Traceability And Direct Marketing Of Agriculture Supply Chains With QR Scanner</a:t>
            </a:r>
            <a:r>
              <a:rPr lang="en-IN" sz="3600" kern="100" dirty="0" smtClean="0">
                <a:effectLst/>
                <a:latin typeface="Calibri" panose="020F0502020204030204" pitchFamily="34" charset="0"/>
                <a:ea typeface="Calibri" panose="020F0502020204030204" pitchFamily="34" charset="0"/>
                <a:cs typeface="Times New Roman" panose="02020603050405020304" pitchFamily="18" charset="0"/>
              </a:rPr>
              <a:t/>
            </a:r>
            <a:br>
              <a:rPr lang="en-IN" sz="3600" kern="100" dirty="0" smtClean="0">
                <a:effectLst/>
                <a:latin typeface="Calibri" panose="020F0502020204030204" pitchFamily="34" charset="0"/>
                <a:ea typeface="Calibri" panose="020F0502020204030204" pitchFamily="34" charset="0"/>
                <a:cs typeface="Times New Roman" panose="02020603050405020304" pitchFamily="18" charset="0"/>
              </a:rPr>
            </a:br>
            <a:endParaRPr lang="en-IN" sz="6000" b="1" dirty="0"/>
          </a:p>
        </p:txBody>
      </p:sp>
    </p:spTree>
    <p:extLst>
      <p:ext uri="{BB962C8B-B14F-4D97-AF65-F5344CB8AC3E}">
        <p14:creationId xmlns:p14="http://schemas.microsoft.com/office/powerpoint/2010/main" val="101433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09947" y="178363"/>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914311"/>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600" b="0" strike="noStrike" spc="-1" dirty="0">
                <a:solidFill>
                  <a:schemeClr val="tx1"/>
                </a:solidFill>
                <a:latin typeface="Times New Roman"/>
              </a:rPr>
              <a:t>Literature survey for second objective</a:t>
            </a:r>
            <a:endParaRPr lang="en-US" sz="1600"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1" y="86094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768350" lvl="2" indent="0">
              <a:lnSpc>
                <a:spcPct val="170000"/>
              </a:lnSpc>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265714" y="457200"/>
            <a:ext cx="4874008" cy="57268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901338" y="1356452"/>
            <a:ext cx="10750731" cy="4613058"/>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decentralized traceability and direct marketing platform for agriculture supply chains. Globalized delivery of manufacturing and agricultural production offer renewed attention to the health, efficiency, and validation of many vital criteria in the food and agricultural supply chain. That numbers of food safety and corruption hazards have generated an enormous need of an efficient traceability solutions which acts as an essential quality managements tools ensuring to enough product’s safety within the agriculture supply chain. Block chain is the revolutionary technological method, which provides the ground breaking result for commodity traceableness in agriculture and in food supply chains. Today's agricultural supplying chains are complicated ecosystems mixing several stakeholders making it difficult to validate several significant requirements mainly towards nation of first origin, crop growth phases, quality standards compliance, and yield monitoring. This paper proposes a strategy that levitates the block chain and conducts business operations effectively across the agricultural supply chain for tracking crop prices and traceability. </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9603" y="783771"/>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1228163" y="2192475"/>
            <a:ext cx="10214900" cy="3000821"/>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framework solution discards the need for trusted centralized authority, intermediaries and offers records of the transactions, improving efficient science and safety with high integrity and reliability. All transactions are registered and then stored in block chain’s unchangeable ledger with linkages to a decentralized le network, thereby ensuring vary high degree of traceability and transparency in the supply chain ecosystem in a stable, reliable and in efficient manner. </a:t>
            </a:r>
            <a:endParaRPr lang="en-IN" dirty="0" smtClean="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Decentralized, Traceability, Direct marketing, Agriculture, Supply chains, QR scanner.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66080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32782" y="19047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1C98F226-CD1F-7988-178A-7FC288895465}"/>
              </a:ext>
            </a:extLst>
          </p:cNvPr>
          <p:cNvSpPr txBox="1"/>
          <p:nvPr/>
        </p:nvSpPr>
        <p:spPr>
          <a:xfrm>
            <a:off x="1432782" y="2204948"/>
            <a:ext cx="9549024" cy="2956387"/>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 project aims to revolutionize the agricultural supply chain by integrating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US" kern="100" dirty="0">
                <a:latin typeface="Times New Roman" panose="02020603050405020304" pitchFamily="18" charset="0"/>
                <a:ea typeface="Calibri" panose="020F0502020204030204" pitchFamily="34" charset="0"/>
                <a:cs typeface="Times New Roman" panose="02020603050405020304" pitchFamily="18" charset="0"/>
              </a:rPr>
              <a:t> technology, enhancing traceability and transparency. This decentralized platform addresses food safety and corruption concerns, ensuring product safety and quality standard compliance. By eliminating the need for centralized authorities and intermediaries, the strategy offers an immutable record of transactions, bolstering efficiency, security, and trustworthiness. It streamlines the complex supply chain ecosystem, ensuring accurate tracking of crop prices, origin, growth stages, and yield monitoring, fostering a reliable and efficient system.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407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4093" y="613954"/>
            <a:ext cx="8596668" cy="10580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0AFF8885-3452-27B2-2483-7C6A2BE828CB}"/>
              </a:ext>
            </a:extLst>
          </p:cNvPr>
          <p:cNvSpPr txBox="1"/>
          <p:nvPr/>
        </p:nvSpPr>
        <p:spPr>
          <a:xfrm>
            <a:off x="1148542" y="2049845"/>
            <a:ext cx="10130048" cy="2951064"/>
          </a:xfrm>
          <a:prstGeom prst="rect">
            <a:avLst/>
          </a:prstGeom>
          <a:noFill/>
        </p:spPr>
        <p:txBody>
          <a:bodyPr wrap="square">
            <a:spAutoFit/>
          </a:bodyPr>
          <a:lstStyle/>
          <a:p>
            <a:pPr algn="just">
              <a:lnSpc>
                <a:spcPct val="150000"/>
              </a:lnSpc>
              <a:spcBef>
                <a:spcPts val="1001"/>
              </a:spcBef>
              <a:buClr>
                <a:srgbClr val="000000"/>
              </a:buClr>
            </a:pPr>
            <a:r>
              <a:rPr lang="en-US" dirty="0">
                <a:latin typeface="Times New Roman" pitchFamily="18" charset="0"/>
                <a:cs typeface="Times New Roman" pitchFamily="18" charset="0"/>
              </a:rPr>
              <a:t>The globalized nature of agricultural production and manufacturing has intensified concerns regarding food safety, efficiency, and validation within supply chains. The rising incidents of food safety breaches and corruption highlight the dire need for efficient traceability solutions as vital quality management tools. Contemporary agricultural supply chains are intricate, involving multiple stakeholders, making verification of origin, growth phases, and compliance challenging. Existing systems, reliant on centralized authorities and intermediaries, lack transparency and integrity. There's a pressing demand for a decentralized, reliable solution to ensure transparency, traceability, and efficiency in agricultural supply chains.</a:t>
            </a:r>
            <a:endParaRPr lang="en-US" sz="18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1703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0490" y="11430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SCOPE AND MOTIVATION</a:t>
            </a:r>
          </a:p>
        </p:txBody>
      </p:sp>
      <p:sp>
        <p:nvSpPr>
          <p:cNvPr id="5" name="TextBox 4">
            <a:extLst>
              <a:ext uri="{FF2B5EF4-FFF2-40B4-BE49-F238E27FC236}">
                <a16:creationId xmlns:a16="http://schemas.microsoft.com/office/drawing/2014/main" id="{FF5B026D-C386-C2AE-23EC-646B0ECEED14}"/>
              </a:ext>
            </a:extLst>
          </p:cNvPr>
          <p:cNvSpPr txBox="1"/>
          <p:nvPr/>
        </p:nvSpPr>
        <p:spPr>
          <a:xfrm>
            <a:off x="1038665" y="2162311"/>
            <a:ext cx="10297550" cy="2951064"/>
          </a:xfrm>
          <a:prstGeom prst="rect">
            <a:avLst/>
          </a:prstGeom>
          <a:noFill/>
        </p:spPr>
        <p:txBody>
          <a:bodyPr wrap="square">
            <a:spAutoFit/>
          </a:bodyPr>
          <a:lstStyle/>
          <a:p>
            <a:pPr algn="just">
              <a:lnSpc>
                <a:spcPct val="150000"/>
              </a:lnSpc>
            </a:pP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The project aims to revolutionize agricultural supply chains using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technology. By decentralizing traceability and eliminating the need for intermediaries, it ensures high-quality standards, enhanced product safety, and verifiable origin tracking. The proposal leverages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blockchain's</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immutable ledger, recording all transactions and offering unparalleled transparency and reliability. This approach simplifies complex supply ecosystems, making crop price tracking, compliance, and yield monitoring more efficient, ultimately fostering a trustworthy, transparent, and streamlined supply chain environment.</a:t>
            </a:r>
            <a:endParaRPr lang="en-IN" dirty="0">
              <a:solidFill>
                <a:schemeClr val="tx1">
                  <a:lumMod val="8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50459" y="-3552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14B97C42-EFC2-B1C2-43A9-2D2BC94C45CE}"/>
              </a:ext>
            </a:extLst>
          </p:cNvPr>
          <p:cNvSpPr txBox="1"/>
          <p:nvPr/>
        </p:nvSpPr>
        <p:spPr>
          <a:xfrm>
            <a:off x="901335" y="1187555"/>
            <a:ext cx="10842171" cy="466281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To ensure product safety, handling the growth of farming products and effective management of logistics -chain in agricultural supply chain is censorious. That cover about food safety and the risk of contamination has renewed the prominence of tracing power across the supply chain Moreover, farming goods exchanged across multiple nations require accurate tracking and compliance with nation-specific regulations Tracing of goods in the agricultural field requires to gather, communicate and maintain critical data by specifically identifying the source, multiple data exchanges in the logistic network. High-spirited nature of data in the agricultural / food supply chain where products are manufactured, processed and sent through multiple intermediaries allows tracking and tracing difficult. Contamination of products and its public health consequences highlight traceability as the required policy instrument for tracking food quality and safety. The present traceability practice in the supply chain of agriculture is mainly affected by data fragmentation and centralized controls that are susceptible to both information modification and management. </a:t>
            </a:r>
          </a:p>
        </p:txBody>
      </p:sp>
    </p:spTree>
    <p:extLst>
      <p:ext uri="{BB962C8B-B14F-4D97-AF65-F5344CB8AC3E}">
        <p14:creationId xmlns:p14="http://schemas.microsoft.com/office/powerpoint/2010/main" val="390162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17D93-769E-0AE3-2BF2-3E9C1F21329A}"/>
              </a:ext>
            </a:extLst>
          </p:cNvPr>
          <p:cNvSpPr>
            <a:spLocks noGrp="1"/>
          </p:cNvSpPr>
          <p:nvPr>
            <p:ph idx="1"/>
          </p:nvPr>
        </p:nvSpPr>
        <p:spPr>
          <a:xfrm>
            <a:off x="882166" y="1025598"/>
            <a:ext cx="10769903" cy="5832402"/>
          </a:xfrm>
        </p:spPr>
        <p:txBody>
          <a:bodyPr>
            <a:normAutofit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Improving food safety, and providing a means to verify food quality attribute are driving the development of traceability initiatives in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system. The United Nation Food and Agriculture Organization (FAO) and the International Telecommunications Union (ITU) are continuing to work together to facilitate the use of innovation Information and communication technologies (ICTs) in agriculture. The importance of traceability has significantly increased with the globalization of the food industries. Therefore, the need for a reliable identification and tracking system is necessary to ensure the quality and safety of food which reaches the consumer. Block chain for Supply Chain is a natural fusion of two technologies, built for mutual or common ledge transactions. A supply chain often reflects a distribution of products through industries, and is also cross-border. Food provenance is one pf FSC’s most difficult issue. This issue companies are facing today. A global supply chain network with asymmetric food regulation and multiple operating procedure between various countries makes end-to-end food tracking incidental to the food industry. Distributed ledger/Block chain is very important technology that can significantly impact the supply chain management. This paper shows the possibility of block chain technology using supply chain for both perishable product and manufacturing. In food supply chain firms are rapidly adopting block chain system. Example for retailers such as Carrefour indicates that block chain can be used to provide access to rich and details information about food product, which is used to reduce the uncertainty about quality and ingredient. Food safety has been an enormous concern in china over the last few years. As conventional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logistic practices can no longer satisfy consumer demands, developing a traceability framework for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supply is becoming increasingly urgent</a:t>
            </a:r>
          </a:p>
        </p:txBody>
      </p:sp>
      <p:sp>
        <p:nvSpPr>
          <p:cNvPr id="4" name="Title 1">
            <a:extLst>
              <a:ext uri="{FF2B5EF4-FFF2-40B4-BE49-F238E27FC236}">
                <a16:creationId xmlns:a16="http://schemas.microsoft.com/office/drawing/2014/main" id="{F72ABBFE-DA50-56C2-8063-6162FB482373}"/>
              </a:ext>
            </a:extLst>
          </p:cNvPr>
          <p:cNvSpPr txBox="1">
            <a:spLocks noGrp="1"/>
          </p:cNvSpPr>
          <p:nvPr>
            <p:ph type="title"/>
          </p:nvPr>
        </p:nvSpPr>
        <p:spPr>
          <a:xfrm>
            <a:off x="986669" y="0"/>
            <a:ext cx="9906000" cy="12248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92979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04811265"/>
              </p:ext>
            </p:extLst>
          </p:nvPr>
        </p:nvGraphicFramePr>
        <p:xfrm>
          <a:off x="287383" y="669401"/>
          <a:ext cx="11656420" cy="6081483"/>
        </p:xfrm>
        <a:graphic>
          <a:graphicData uri="http://schemas.openxmlformats.org/drawingml/2006/table">
            <a:tbl>
              <a:tblPr>
                <a:tableStyleId>{3C2FFA5D-87B4-456A-9821-1D502468CF0F}</a:tableStyleId>
              </a:tblPr>
              <a:tblGrid>
                <a:gridCol w="796834">
                  <a:extLst>
                    <a:ext uri="{9D8B030D-6E8A-4147-A177-3AD203B41FA5}">
                      <a16:colId xmlns:a16="http://schemas.microsoft.com/office/drawing/2014/main" val="279240541"/>
                    </a:ext>
                  </a:extLst>
                </a:gridCol>
                <a:gridCol w="888274">
                  <a:extLst>
                    <a:ext uri="{9D8B030D-6E8A-4147-A177-3AD203B41FA5}">
                      <a16:colId xmlns:a16="http://schemas.microsoft.com/office/drawing/2014/main" val="373034038"/>
                    </a:ext>
                  </a:extLst>
                </a:gridCol>
                <a:gridCol w="2299063">
                  <a:extLst>
                    <a:ext uri="{9D8B030D-6E8A-4147-A177-3AD203B41FA5}">
                      <a16:colId xmlns:a16="http://schemas.microsoft.com/office/drawing/2014/main" val="4157314464"/>
                    </a:ext>
                  </a:extLst>
                </a:gridCol>
                <a:gridCol w="2560320">
                  <a:extLst>
                    <a:ext uri="{9D8B030D-6E8A-4147-A177-3AD203B41FA5}">
                      <a16:colId xmlns:a16="http://schemas.microsoft.com/office/drawing/2014/main" val="2978091490"/>
                    </a:ext>
                  </a:extLst>
                </a:gridCol>
                <a:gridCol w="5111929">
                  <a:extLst>
                    <a:ext uri="{9D8B030D-6E8A-4147-A177-3AD203B41FA5}">
                      <a16:colId xmlns:a16="http://schemas.microsoft.com/office/drawing/2014/main" val="4013370926"/>
                    </a:ext>
                  </a:extLst>
                </a:gridCol>
              </a:tblGrid>
              <a:tr h="213395">
                <a:tc>
                  <a:txBody>
                    <a:bodyPr/>
                    <a:lstStyle/>
                    <a:p>
                      <a:pPr algn="ctr"/>
                      <a:r>
                        <a:rPr lang="en-IN" sz="1400" dirty="0" err="1">
                          <a:effectLst/>
                          <a:latin typeface="Times New Roman" panose="02020603050405020304" pitchFamily="18" charset="0"/>
                          <a:cs typeface="Times New Roman" panose="02020603050405020304" pitchFamily="18" charset="0"/>
                        </a:rPr>
                        <a:t>SNo</a:t>
                      </a:r>
                      <a:r>
                        <a:rPr lang="en-IN" sz="1400" dirty="0">
                          <a:effectLst/>
                          <a:latin typeface="Times New Roman" panose="02020603050405020304" pitchFamily="18" charset="0"/>
                          <a:cs typeface="Times New Roman" panose="02020603050405020304" pitchFamily="18" charset="0"/>
                        </a:rPr>
                        <a:t>.</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Year</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Authors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Title</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Key Outcomes / Contributions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634988133"/>
                  </a:ext>
                </a:extLst>
              </a:tr>
              <a:tr h="1613469">
                <a:tc>
                  <a:txBody>
                    <a:bodyPr/>
                    <a:lstStyle/>
                    <a:p>
                      <a:pPr algn="ctr"/>
                      <a:r>
                        <a:rPr lang="en-IN" sz="1400">
                          <a:effectLst/>
                          <a:latin typeface="Times New Roman" panose="02020603050405020304" pitchFamily="18" charset="0"/>
                          <a:cs typeface="Times New Roman" panose="02020603050405020304" pitchFamily="18" charset="0"/>
                        </a:rPr>
                        <a:t>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2020</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Kamilaris, A., Fonts, A., Prenafeta-Boldó, F.X.</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The rise of blockchain technology in agriculture and food supply chains</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Provides a comprehensive review of early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applications in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Highlights benefits like enhanced transparency, fraud prevention, and improved food safety. Identifies challenges of scalability, interoperability, and high energy consumption for some consensus mechanisms.</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01931920"/>
                  </a:ext>
                </a:extLst>
              </a:tr>
              <a:tr h="1213448">
                <a:tc>
                  <a:txBody>
                    <a:bodyPr/>
                    <a:lstStyle/>
                    <a:p>
                      <a:pPr algn="ctr"/>
                      <a:r>
                        <a:rPr lang="en-IN" sz="1400">
                          <a:effectLst/>
                          <a:latin typeface="Times New Roman" panose="02020603050405020304" pitchFamily="18" charset="0"/>
                          <a:cs typeface="Times New Roman" panose="02020603050405020304" pitchFamily="18" charset="0"/>
                        </a:rPr>
                        <a:t>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2019</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Tian, F.</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An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supply chain traceability system for China based on RFID &amp;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Proposes a framework integrating RFID and blockchain. Demonstrates how immutable records from farm to table can dramatically reduce data tampering and improve recall efficiency. Emphasizes the system's ability to verify origin and quality compliance.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416282291"/>
                  </a:ext>
                </a:extLst>
              </a:tr>
              <a:tr h="1413459">
                <a:tc>
                  <a:txBody>
                    <a:bodyPr/>
                    <a:lstStyle/>
                    <a:p>
                      <a:pPr algn="ctr"/>
                      <a:r>
                        <a:rPr lang="en-IN" sz="1400">
                          <a:effectLst/>
                          <a:latin typeface="Times New Roman" panose="02020603050405020304" pitchFamily="18" charset="0"/>
                          <a:cs typeface="Times New Roman" panose="02020603050405020304" pitchFamily="18" charset="0"/>
                        </a:rPr>
                        <a:t>3</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Yadav, V.S., Singh, A.R., </a:t>
                      </a:r>
                      <a:r>
                        <a:rPr lang="en-IN" sz="1400" dirty="0" err="1">
                          <a:effectLst/>
                          <a:latin typeface="Times New Roman" panose="02020603050405020304" pitchFamily="18" charset="0"/>
                          <a:cs typeface="Times New Roman" panose="02020603050405020304" pitchFamily="18" charset="0"/>
                        </a:rPr>
                        <a:t>Raut</a:t>
                      </a:r>
                      <a:r>
                        <a:rPr lang="en-IN" sz="1400" dirty="0">
                          <a:effectLst/>
                          <a:latin typeface="Times New Roman" panose="02020603050405020304" pitchFamily="18" charset="0"/>
                          <a:cs typeface="Times New Roman" panose="02020603050405020304" pitchFamily="18" charset="0"/>
                        </a:rPr>
                        <a:t>, R.D., &amp; </a:t>
                      </a:r>
                      <a:r>
                        <a:rPr lang="en-IN" sz="1400" dirty="0" err="1">
                          <a:effectLst/>
                          <a:latin typeface="Times New Roman" panose="02020603050405020304" pitchFamily="18" charset="0"/>
                          <a:cs typeface="Times New Roman" panose="02020603050405020304" pitchFamily="18" charset="0"/>
                        </a:rPr>
                        <a:t>Govindarajan</a:t>
                      </a:r>
                      <a:r>
                        <a:rPr lang="en-IN" sz="1400" dirty="0">
                          <a:effectLst/>
                          <a:latin typeface="Times New Roman" panose="02020603050405020304" pitchFamily="18" charset="0"/>
                          <a:cs typeface="Times New Roman" panose="02020603050405020304" pitchFamily="18" charset="0"/>
                        </a:rPr>
                        <a:t>, U.H.</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 adoption barriers in the Indian agricultural supply chain</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Investigates practical implementation challenges. Key barriers include technological complexity, lack of infrastructure, high initial costs, and resistance from intermediaries. This study contextualizes the "discarding of intermediaries" mentioned in your abstract as a significant hurdle.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659942628"/>
                  </a:ext>
                </a:extLst>
              </a:tr>
              <a:tr h="1613469">
                <a:tc>
                  <a:txBody>
                    <a:bodyPr/>
                    <a:lstStyle/>
                    <a:p>
                      <a:pPr algn="ctr"/>
                      <a:r>
                        <a:rPr lang="en-IN" sz="1400">
                          <a:effectLst/>
                          <a:latin typeface="Times New Roman" panose="02020603050405020304" pitchFamily="18" charset="0"/>
                          <a:cs typeface="Times New Roman" panose="02020603050405020304" pitchFamily="18" charset="0"/>
                        </a:rPr>
                        <a:t>4</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Mondal, S., Wijewardena, K.P., Karuppuswami, S., et al.</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Blockchain inspired RFID-based authentication architecture for food supply chain</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Focuses on the integration of physical (RFID/QR) and digital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tracking. Proposes a secure architecture where </a:t>
                      </a:r>
                      <a:r>
                        <a:rPr lang="en-US" sz="1400" dirty="0" err="1">
                          <a:effectLst/>
                          <a:latin typeface="Times New Roman" panose="02020603050405020304" pitchFamily="18" charset="0"/>
                          <a:cs typeface="Times New Roman" panose="02020603050405020304" pitchFamily="18" charset="0"/>
                        </a:rPr>
                        <a:t>IoT</a:t>
                      </a:r>
                      <a:r>
                        <a:rPr lang="en-US" sz="1400" dirty="0">
                          <a:effectLst/>
                          <a:latin typeface="Times New Roman" panose="02020603050405020304" pitchFamily="18" charset="0"/>
                          <a:cs typeface="Times New Roman" panose="02020603050405020304" pitchFamily="18" charset="0"/>
                        </a:rPr>
                        <a:t> sensor data is hashed onto the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and a QR/RFID tag provides the key for consumers to access immutable product history, linking directly to your platform's proposed user interface.</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634289272"/>
                  </a:ext>
                </a:extLst>
              </a:tr>
            </a:tbl>
          </a:graphicData>
        </a:graphic>
      </p:graphicFrame>
      <p:sp>
        <p:nvSpPr>
          <p:cNvPr id="4" name="Title 1"/>
          <p:cNvSpPr txBox="1"/>
          <p:nvPr/>
        </p:nvSpPr>
        <p:spPr>
          <a:xfrm>
            <a:off x="3226525" y="0"/>
            <a:ext cx="4671674" cy="51264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148388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82833" y="0"/>
            <a:ext cx="4671674" cy="613954"/>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just">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4" name="Table 3"/>
          <p:cNvGraphicFramePr>
            <a:graphicFrameLocks noGrp="1"/>
          </p:cNvGraphicFramePr>
          <p:nvPr>
            <p:extLst>
              <p:ext uri="{D42A27DB-BD31-4B8C-83A1-F6EECF244321}">
                <p14:modId xmlns:p14="http://schemas.microsoft.com/office/powerpoint/2010/main" val="2053846084"/>
              </p:ext>
            </p:extLst>
          </p:nvPr>
        </p:nvGraphicFramePr>
        <p:xfrm>
          <a:off x="418007" y="1097280"/>
          <a:ext cx="11469191" cy="5435870"/>
        </p:xfrm>
        <a:graphic>
          <a:graphicData uri="http://schemas.openxmlformats.org/drawingml/2006/table">
            <a:tbl>
              <a:tblPr>
                <a:tableStyleId>{3C2FFA5D-87B4-456A-9821-1D502468CF0F}</a:tableStyleId>
              </a:tblPr>
              <a:tblGrid>
                <a:gridCol w="640083">
                  <a:extLst>
                    <a:ext uri="{9D8B030D-6E8A-4147-A177-3AD203B41FA5}">
                      <a16:colId xmlns:a16="http://schemas.microsoft.com/office/drawing/2014/main" val="1474619661"/>
                    </a:ext>
                  </a:extLst>
                </a:gridCol>
                <a:gridCol w="1201783">
                  <a:extLst>
                    <a:ext uri="{9D8B030D-6E8A-4147-A177-3AD203B41FA5}">
                      <a16:colId xmlns:a16="http://schemas.microsoft.com/office/drawing/2014/main" val="3188908467"/>
                    </a:ext>
                  </a:extLst>
                </a:gridCol>
                <a:gridCol w="1959430">
                  <a:extLst>
                    <a:ext uri="{9D8B030D-6E8A-4147-A177-3AD203B41FA5}">
                      <a16:colId xmlns:a16="http://schemas.microsoft.com/office/drawing/2014/main" val="3508733073"/>
                    </a:ext>
                  </a:extLst>
                </a:gridCol>
                <a:gridCol w="2965268">
                  <a:extLst>
                    <a:ext uri="{9D8B030D-6E8A-4147-A177-3AD203B41FA5}">
                      <a16:colId xmlns:a16="http://schemas.microsoft.com/office/drawing/2014/main" val="1485977894"/>
                    </a:ext>
                  </a:extLst>
                </a:gridCol>
                <a:gridCol w="4702627">
                  <a:extLst>
                    <a:ext uri="{9D8B030D-6E8A-4147-A177-3AD203B41FA5}">
                      <a16:colId xmlns:a16="http://schemas.microsoft.com/office/drawing/2014/main" val="3993910736"/>
                    </a:ext>
                  </a:extLst>
                </a:gridCol>
              </a:tblGrid>
              <a:tr h="74856">
                <a:tc>
                  <a:txBody>
                    <a:bodyPr/>
                    <a:lstStyle/>
                    <a:p>
                      <a:pPr algn="ctr"/>
                      <a:r>
                        <a:rPr lang="en-IN" sz="1600">
                          <a:effectLst/>
                        </a:rPr>
                        <a:t>SNo.</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Year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Authors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Title</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Key Outcomes / Contributions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173405262"/>
                  </a:ext>
                </a:extLst>
              </a:tr>
              <a:tr h="547141">
                <a:tc>
                  <a:txBody>
                    <a:bodyPr/>
                    <a:lstStyle/>
                    <a:p>
                      <a:pPr algn="ctr"/>
                      <a:r>
                        <a:rPr lang="en-IN" sz="1600" dirty="0">
                          <a:effectLst/>
                        </a:rPr>
                        <a:t>5</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2018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a:effectLst/>
                        </a:rPr>
                        <a:t>Salah, K., Nizamuddin, N., Jayaraman, R., &amp; Omar, M.</a:t>
                      </a:r>
                      <a:endParaRPr lang="fi-FI"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Blockchain-Based Soybean Traceability in Agricultural Supply Chain</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Presents a concrete case study for soybean tracking. Shows how </a:t>
                      </a:r>
                      <a:r>
                        <a:rPr lang="en-US" sz="1600" dirty="0" err="1">
                          <a:effectLst/>
                        </a:rPr>
                        <a:t>blockchain</a:t>
                      </a:r>
                      <a:r>
                        <a:rPr lang="en-US" sz="1600" dirty="0">
                          <a:effectLst/>
                        </a:rPr>
                        <a:t> can log critical data (origin, batch, processing, shipping) in a tamper-proof ledger, enabling all stakeholders to trace the product's journey and validate claims about growth phases and quality.</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922662633"/>
                  </a:ext>
                </a:extLst>
              </a:tr>
              <a:tr h="574922">
                <a:tc>
                  <a:txBody>
                    <a:bodyPr/>
                    <a:lstStyle/>
                    <a:p>
                      <a:pPr algn="ctr"/>
                      <a:r>
                        <a:rPr lang="en-IN" sz="1600">
                          <a:effectLst/>
                        </a:rPr>
                        <a:t>6</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2023</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dirty="0">
                          <a:effectLst/>
                        </a:rPr>
                        <a:t>Gupta, R., Srivastava, A., &amp; Singh, S.K.</a:t>
                      </a:r>
                      <a:endParaRPr lang="fi-FI"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Decentralized Direct-to-Consumer Models in </a:t>
                      </a:r>
                      <a:r>
                        <a:rPr lang="en-US" sz="1600" dirty="0" err="1">
                          <a:effectLst/>
                        </a:rPr>
                        <a:t>Agri</a:t>
                      </a:r>
                      <a:r>
                        <a:rPr lang="en-US" sz="1600" dirty="0">
                          <a:effectLst/>
                        </a:rPr>
                        <a:t>-Food Using </a:t>
                      </a:r>
                      <a:r>
                        <a:rPr lang="en-US" sz="1600" dirty="0" err="1">
                          <a:effectLst/>
                        </a:rPr>
                        <a:t>Blockchain</a:t>
                      </a:r>
                      <a:r>
                        <a:rPr lang="en-US" sz="1600" dirty="0">
                          <a:effectLst/>
                        </a:rPr>
                        <a:t> and Smart Contracts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Directly addresses your "direct marketing" component. Explores how blockchain platforms can connect farmers directly with consumers, using smart contracts to automate payments and logistics. Highlights economic benefits for farmers and trust benefits for consumers.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570100781"/>
                  </a:ext>
                </a:extLst>
              </a:tr>
              <a:tr h="519359">
                <a:tc>
                  <a:txBody>
                    <a:bodyPr/>
                    <a:lstStyle/>
                    <a:p>
                      <a:pPr algn="ctr"/>
                      <a:r>
                        <a:rPr lang="en-IN" sz="1600" dirty="0">
                          <a:effectLst/>
                        </a:rPr>
                        <a:t>7</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2021</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Kumar, R., &amp; Tripathi, 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Traceability of Tamarind in Food Supply Chain Using Blockchain and IoT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Another specific crop study. Combines IoT sensors (for soil, climate data) with blockchain to create a rich, verifiable digital footprint for a product. Outcomes show enhanced transparency in crop growth phases and yield monitoring, a key criterion from your abstract.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848258025"/>
                  </a:ext>
                </a:extLst>
              </a:tr>
              <a:tr h="658266">
                <a:tc>
                  <a:txBody>
                    <a:bodyPr/>
                    <a:lstStyle/>
                    <a:p>
                      <a:pPr algn="ctr"/>
                      <a:r>
                        <a:rPr lang="en-IN" sz="1600">
                          <a:effectLst/>
                        </a:rPr>
                        <a:t>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2024</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nl-NL" sz="1600">
                          <a:effectLst/>
                        </a:rPr>
                        <a:t>Zhao, G., Liu, S., Lopez, C., et al.</a:t>
                      </a:r>
                      <a:endParaRPr lang="nl-NL"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 Privacy-Preserving Blockchain Mechanism for Cross-Border Agri-Food Supply Chains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Addresses challenges in globalized delivery. Proposes a </a:t>
                      </a:r>
                      <a:r>
                        <a:rPr lang="en-US" sz="1600" dirty="0" err="1">
                          <a:effectLst/>
                        </a:rPr>
                        <a:t>blockchain</a:t>
                      </a:r>
                      <a:r>
                        <a:rPr lang="en-US" sz="1600" dirty="0">
                          <a:effectLst/>
                        </a:rPr>
                        <a:t> mechanism that ensures data integrity and traceability while protecting business-sensitive information (e.g., exact supplier prices) from unauthorized access, ensuring stable and reliable information sharing across borders.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845363548"/>
                  </a:ext>
                </a:extLst>
              </a:tr>
            </a:tbl>
          </a:graphicData>
        </a:graphic>
      </p:graphicFrame>
    </p:spTree>
    <p:extLst>
      <p:ext uri="{BB962C8B-B14F-4D97-AF65-F5344CB8AC3E}">
        <p14:creationId xmlns:p14="http://schemas.microsoft.com/office/powerpoint/2010/main" val="862790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06735" y="2141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3"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EXISTING METHOD</a:t>
            </a:r>
            <a:endParaRPr lang="en-US" sz="3600" dirty="0">
              <a:solidFill>
                <a:schemeClr val="tx1"/>
              </a:solidFill>
              <a:latin typeface="Times New Roman" panose="02020603050405020304" pitchFamily="18" charset="0"/>
              <a:cs typeface="Times New Roman" panose="02020603050405020304" pitchFamily="18" charset="0"/>
            </a:endParaRPr>
          </a:p>
          <a:p>
            <a:pPr lvl="2" algn="ctr">
              <a:lnSpc>
                <a:spcPct val="170000"/>
              </a:lnSpc>
            </a:pP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DE0B25-C2B5-5109-79DF-6936EF31138A}"/>
              </a:ext>
            </a:extLst>
          </p:cNvPr>
          <p:cNvSpPr txBox="1"/>
          <p:nvPr/>
        </p:nvSpPr>
        <p:spPr>
          <a:xfrm>
            <a:off x="1406768" y="1552895"/>
            <a:ext cx="9650437" cy="2540888"/>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There is no computerized system in place to trace the cost of agriculture. Agricultural products cannot be obtained by the farmer.72 percent of the population in India is dependent on the farming industry. Farmers get enormous quantities of crop manufacturing, but they have not got the correct price because they can survive the present circumstances. So they are suicide and nothing is done by the government. So we are attempting to fix this issue in the suggested scheme by tracing the cost of the agricultural product from farmer to client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4279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941966" y="4728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5" name="TextBox 4">
            <a:extLst>
              <a:ext uri="{FF2B5EF4-FFF2-40B4-BE49-F238E27FC236}">
                <a16:creationId xmlns:a16="http://schemas.microsoft.com/office/drawing/2014/main" id="{4BC49A54-5D18-B727-A0E6-A3111E1F5CC6}"/>
              </a:ext>
            </a:extLst>
          </p:cNvPr>
          <p:cNvSpPr txBox="1"/>
          <p:nvPr/>
        </p:nvSpPr>
        <p:spPr>
          <a:xfrm>
            <a:off x="941966" y="1344321"/>
            <a:ext cx="10308068" cy="3724096"/>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n-IN" b="1" kern="100" dirty="0" smtClean="0">
                <a:effectLst/>
                <a:latin typeface="Times New Roman" panose="02020603050405020304" pitchFamily="18" charset="0"/>
                <a:ea typeface="Calibri" panose="020F0502020204030204" pitchFamily="34" charset="0"/>
                <a:cs typeface="Times New Roman" panose="02020603050405020304" pitchFamily="18" charset="0"/>
              </a:rPr>
              <a:t>Complexity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in Implementation:</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Setting up decentralized systems can be intricate, demanding expertise and resources, making it challenging for smaller agricultural players.</a:t>
            </a:r>
          </a:p>
          <a:p>
            <a:pPr marL="285750" indent="-285750" algn="just">
              <a:lnSpc>
                <a:spcPct val="150000"/>
              </a:lnSpc>
              <a:spcAft>
                <a:spcPts val="800"/>
              </a:spcAft>
              <a:buFont typeface="Arial" panose="020B0604020202020204" pitchFamily="34" charset="0"/>
              <a:buChar char="•"/>
            </a:pPr>
            <a:r>
              <a:rPr lang="en-IN" b="1" kern="100" dirty="0" smtClean="0">
                <a:effectLst/>
                <a:latin typeface="Times New Roman" panose="02020603050405020304" pitchFamily="18" charset="0"/>
                <a:ea typeface="Calibri" panose="020F0502020204030204" pitchFamily="34" charset="0"/>
                <a:cs typeface="Times New Roman" panose="02020603050405020304" pitchFamily="18" charset="0"/>
              </a:rPr>
              <a:t>Interoperability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Issues: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Ensuring compatibility among various decentralized platforms and technologies can be a hurdle, potentially leading to data silos and inefficiencies.</a:t>
            </a:r>
          </a:p>
          <a:p>
            <a:pPr marL="285750" indent="-285750" algn="just">
              <a:lnSpc>
                <a:spcPct val="150000"/>
              </a:lnSpc>
              <a:spcAft>
                <a:spcPts val="800"/>
              </a:spcAft>
              <a:buFont typeface="Arial" panose="020B0604020202020204" pitchFamily="34" charset="0"/>
              <a:buChar char="•"/>
            </a:pPr>
            <a:r>
              <a:rPr lang="en-IN" b="1" kern="100" dirty="0" smtClean="0">
                <a:effectLst/>
                <a:latin typeface="Times New Roman" panose="02020603050405020304" pitchFamily="18" charset="0"/>
                <a:ea typeface="Calibri" panose="020F0502020204030204" pitchFamily="34" charset="0"/>
                <a:cs typeface="Times New Roman" panose="02020603050405020304" pitchFamily="18" charset="0"/>
              </a:rPr>
              <a:t>Scalability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Constraints: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Expanding a decentralized system to accommodate a growing number of users and transactions can be challenging, causing performance issues.</a:t>
            </a:r>
          </a:p>
          <a:p>
            <a:pPr marL="285750" indent="-285750" algn="just">
              <a:lnSpc>
                <a:spcPct val="150000"/>
              </a:lnSpc>
              <a:spcAft>
                <a:spcPts val="800"/>
              </a:spcAft>
              <a:buFont typeface="Arial" panose="020B0604020202020204" pitchFamily="34" charset="0"/>
              <a:buChar char="•"/>
            </a:pPr>
            <a:r>
              <a:rPr lang="en-IN" b="1" kern="100" dirty="0" smtClean="0">
                <a:effectLst/>
                <a:latin typeface="Times New Roman" panose="02020603050405020304" pitchFamily="18" charset="0"/>
                <a:ea typeface="Calibri" panose="020F0502020204030204" pitchFamily="34" charset="0"/>
                <a:cs typeface="Times New Roman" panose="02020603050405020304" pitchFamily="18" charset="0"/>
              </a:rPr>
              <a:t>Security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Risks: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Decentralized systems are not immune to security threats like smart contract vulnerabilities and hacking, posing risks to data integrity and user trust.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05036" y="253696"/>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PlaceHolder 1">
            <a:extLst>
              <a:ext uri="{FF2B5EF4-FFF2-40B4-BE49-F238E27FC236}">
                <a16:creationId xmlns:a16="http://schemas.microsoft.com/office/drawing/2014/main" id="{FB1D2FB6-4286-5251-DE60-105F7C1AB08B}"/>
              </a:ext>
            </a:extLst>
          </p:cNvPr>
          <p:cNvSpPr txBox="1">
            <a:spLocks/>
          </p:cNvSpPr>
          <p:nvPr/>
        </p:nvSpPr>
        <p:spPr>
          <a:xfrm>
            <a:off x="1867988" y="2387022"/>
            <a:ext cx="8882083" cy="1975971"/>
          </a:xfrm>
          <a:prstGeom prst="rect">
            <a:avLst/>
          </a:prstGeom>
          <a:noFill/>
          <a:ln w="12600">
            <a:noFill/>
            <a:miter/>
          </a:ln>
        </p:spPr>
        <p:txBody>
          <a:bodyPr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457200" indent="-457200" algn="just">
              <a:spcBef>
                <a:spcPts val="1001"/>
              </a:spcBef>
              <a:buClr>
                <a:srgbClr val="000000"/>
              </a:buClr>
              <a:buFont typeface="Wingdings" pitchFamily="2" charset="2"/>
              <a:buChar char="Ø"/>
            </a:pPr>
            <a:r>
              <a:rPr lang="en-US" sz="2000" dirty="0">
                <a:latin typeface="Times New Roman" pitchFamily="18" charset="0"/>
                <a:cs typeface="Times New Roman" pitchFamily="18" charset="0"/>
              </a:rPr>
              <a:t>In proposed system we are using a Block chain helps which helps in maintaining the integrity and transparency of the whole process right from inception of crop details. </a:t>
            </a:r>
            <a:r>
              <a:rPr lang="en-US" sz="2000" dirty="0" err="1">
                <a:latin typeface="Times New Roman" pitchFamily="18" charset="0"/>
                <a:cs typeface="Times New Roman" pitchFamily="18" charset="0"/>
              </a:rPr>
              <a:t>Blockchain</a:t>
            </a:r>
            <a:r>
              <a:rPr lang="en-US" sz="2000" dirty="0">
                <a:latin typeface="Times New Roman" pitchFamily="18" charset="0"/>
                <a:cs typeface="Times New Roman" pitchFamily="18" charset="0"/>
              </a:rPr>
              <a:t> helps in managing and tracing the crop information transparent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4260" y="162406"/>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CF1CA0-08F0-BE98-320A-9FD45A8628DC}"/>
              </a:ext>
            </a:extLst>
          </p:cNvPr>
          <p:cNvSpPr txBox="1"/>
          <p:nvPr/>
        </p:nvSpPr>
        <p:spPr>
          <a:xfrm>
            <a:off x="1314260" y="1225213"/>
            <a:ext cx="9363118" cy="34163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1" dirty="0" smtClean="0">
                <a:effectLst/>
                <a:latin typeface="Times New Roman" panose="02020603050405020304" pitchFamily="18" charset="0"/>
                <a:ea typeface="Times New Roman" panose="02020603050405020304" pitchFamily="18" charset="0"/>
              </a:rPr>
              <a:t>Enhanced </a:t>
            </a:r>
            <a:r>
              <a:rPr lang="en-US" sz="1800" b="1" dirty="0">
                <a:effectLst/>
                <a:latin typeface="Times New Roman" panose="02020603050405020304" pitchFamily="18" charset="0"/>
                <a:ea typeface="Times New Roman" panose="02020603050405020304" pitchFamily="18" charset="0"/>
              </a:rPr>
              <a:t>Transparency:</a:t>
            </a:r>
            <a:r>
              <a:rPr lang="en-US" sz="1800" dirty="0">
                <a:effectLst/>
                <a:latin typeface="Times New Roman" panose="02020603050405020304" pitchFamily="18" charset="0"/>
                <a:ea typeface="Times New Roman" panose="02020603050405020304" pitchFamily="18" charset="0"/>
              </a:rPr>
              <a:t> Decentralized traceability allows consumers to track the journey of agricultural products from farm to table, fostering trust.</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smtClean="0">
                <a:effectLst/>
                <a:latin typeface="Times New Roman" panose="02020603050405020304" pitchFamily="18" charset="0"/>
                <a:ea typeface="Times New Roman" panose="02020603050405020304" pitchFamily="18" charset="0"/>
              </a:rPr>
              <a:t>Reduced </a:t>
            </a:r>
            <a:r>
              <a:rPr lang="en-US" sz="1800" b="1" dirty="0">
                <a:effectLst/>
                <a:latin typeface="Times New Roman" panose="02020603050405020304" pitchFamily="18" charset="0"/>
                <a:ea typeface="Times New Roman" panose="02020603050405020304" pitchFamily="18" charset="0"/>
              </a:rPr>
              <a:t>Fraud:</a:t>
            </a:r>
            <a:r>
              <a:rPr lang="en-US" sz="1800" dirty="0">
                <a:effectLst/>
                <a:latin typeface="Times New Roman" panose="02020603050405020304" pitchFamily="18" charset="0"/>
                <a:ea typeface="Times New Roman" panose="02020603050405020304" pitchFamily="18" charset="0"/>
              </a:rPr>
              <a:t> Direct marketing eliminates intermediaries, reducing the risk of counterfeit goods and fraud in the supply chain.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smtClean="0">
                <a:effectLst/>
                <a:latin typeface="Times New Roman" panose="02020603050405020304" pitchFamily="18" charset="0"/>
                <a:ea typeface="Times New Roman" panose="02020603050405020304" pitchFamily="18" charset="0"/>
              </a:rPr>
              <a:t>Fair </a:t>
            </a:r>
            <a:r>
              <a:rPr lang="en-US" sz="1800" b="1" dirty="0">
                <a:effectLst/>
                <a:latin typeface="Times New Roman" panose="02020603050405020304" pitchFamily="18" charset="0"/>
                <a:ea typeface="Times New Roman" panose="02020603050405020304" pitchFamily="18" charset="0"/>
              </a:rPr>
              <a:t>Pricing:</a:t>
            </a:r>
            <a:r>
              <a:rPr lang="en-US" sz="1800" dirty="0">
                <a:effectLst/>
                <a:latin typeface="Times New Roman" panose="02020603050405020304" pitchFamily="18" charset="0"/>
                <a:ea typeface="Times New Roman" panose="02020603050405020304" pitchFamily="18" charset="0"/>
              </a:rPr>
              <a:t> Farmers receive a fair share of profits by selling directly to buyers, avoiding price manipulation by middlemen.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smtClean="0">
                <a:effectLst/>
                <a:latin typeface="Times New Roman" panose="02020603050405020304" pitchFamily="18" charset="0"/>
                <a:ea typeface="Times New Roman" panose="02020603050405020304" pitchFamily="18" charset="0"/>
              </a:rPr>
              <a:t>Efficient </a:t>
            </a:r>
            <a:r>
              <a:rPr lang="en-US" sz="1800" b="1" dirty="0">
                <a:effectLst/>
                <a:latin typeface="Times New Roman" panose="02020603050405020304" pitchFamily="18" charset="0"/>
                <a:ea typeface="Times New Roman" panose="02020603050405020304" pitchFamily="18" charset="0"/>
              </a:rPr>
              <a:t>Logistics:</a:t>
            </a:r>
            <a:r>
              <a:rPr lang="en-US" sz="1800" dirty="0">
                <a:effectLst/>
                <a:latin typeface="Times New Roman" panose="02020603050405020304" pitchFamily="18" charset="0"/>
                <a:ea typeface="Times New Roman" panose="02020603050405020304" pitchFamily="18" charset="0"/>
              </a:rPr>
              <a:t> Real-time data improves inventory management and logistics, reducing wastage and optimizing distribution.</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469988" y="171651"/>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01089" y="6041791"/>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W</a:t>
            </a:r>
            <a:r>
              <a:rPr lang="en-US" dirty="0">
                <a:latin typeface="Times New Roman" panose="02020603050405020304" pitchFamily="18" charset="0"/>
                <a:cs typeface="Times New Roman" panose="02020603050405020304" pitchFamily="18" charset="0"/>
              </a:rPr>
              <a:t>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37AD7CB-FF93-AC76-D84C-68888432C11F}"/>
              </a:ext>
            </a:extLst>
          </p:cNvPr>
          <p:cNvPicPr>
            <a:picLocks noChangeAspect="1"/>
          </p:cNvPicPr>
          <p:nvPr/>
        </p:nvPicPr>
        <p:blipFill>
          <a:blip r:embed="rId2"/>
          <a:stretch>
            <a:fillRect/>
          </a:stretch>
        </p:blipFill>
        <p:spPr>
          <a:xfrm>
            <a:off x="2602523" y="1414987"/>
            <a:ext cx="6710289" cy="4177665"/>
          </a:xfrm>
          <a:prstGeom prst="rect">
            <a:avLst/>
          </a:prstGeom>
        </p:spPr>
      </p:pic>
    </p:spTree>
    <p:extLst>
      <p:ext uri="{BB962C8B-B14F-4D97-AF65-F5344CB8AC3E}">
        <p14:creationId xmlns:p14="http://schemas.microsoft.com/office/powerpoint/2010/main" val="1565346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TextBox 3">
            <a:extLst>
              <a:ext uri="{FF2B5EF4-FFF2-40B4-BE49-F238E27FC236}">
                <a16:creationId xmlns:a16="http://schemas.microsoft.com/office/drawing/2014/main" id="{85B409CE-419A-FF43-65E0-D6EAD7095852}"/>
              </a:ext>
            </a:extLst>
          </p:cNvPr>
          <p:cNvSpPr txBox="1"/>
          <p:nvPr/>
        </p:nvSpPr>
        <p:spPr>
          <a:xfrm>
            <a:off x="2801238" y="2087425"/>
            <a:ext cx="6105378" cy="3838871"/>
          </a:xfrm>
          <a:prstGeom prst="rect">
            <a:avLst/>
          </a:prstGeom>
          <a:noFill/>
        </p:spPr>
        <p:txBody>
          <a:bodyPr wrap="square">
            <a:spAutoFit/>
          </a:bodyPr>
          <a:lstStyle/>
          <a:p>
            <a:pPr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Monitor			       - SVGA</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RAM				- 8GB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3" name="TextBox 2">
            <a:extLst>
              <a:ext uri="{FF2B5EF4-FFF2-40B4-BE49-F238E27FC236}">
                <a16:creationId xmlns:a16="http://schemas.microsoft.com/office/drawing/2014/main" id="{92F52A75-E44A-1000-5FD6-3FA2058D3262}"/>
              </a:ext>
            </a:extLst>
          </p:cNvPr>
          <p:cNvSpPr txBox="1"/>
          <p:nvPr/>
        </p:nvSpPr>
        <p:spPr>
          <a:xfrm>
            <a:off x="2560320" y="1813748"/>
            <a:ext cx="6105378" cy="4349909"/>
          </a:xfrm>
          <a:prstGeom prst="rect">
            <a:avLst/>
          </a:prstGeom>
          <a:noFill/>
        </p:spPr>
        <p:txBody>
          <a:bodyPr wrap="square">
            <a:spAutoFit/>
          </a:bodyPr>
          <a:lstStyle/>
          <a:p>
            <a:pPr algn="just">
              <a:lnSpc>
                <a:spcPct val="150000"/>
              </a:lnSpc>
              <a:spcBef>
                <a:spcPts val="1200"/>
              </a:spcBef>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Operating System		:  Windows 7/8/10</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side Script		:  HTML, CSS, Bootstrap &amp; JS</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Programming Language	:  Python</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Libraries			        :  Flask, Pandas, </a:t>
            </a:r>
            <a:r>
              <a:rPr lang="en-US" sz="1800" dirty="0" err="1">
                <a:effectLst/>
                <a:latin typeface="Times New Roman" panose="02020603050405020304" pitchFamily="18" charset="0"/>
                <a:ea typeface="Times New Roman" panose="02020603050405020304" pitchFamily="18" charset="0"/>
              </a:rPr>
              <a:t>Mysql.connector</a:t>
            </a:r>
            <a:r>
              <a:rPr lang="en-US" sz="1800" dirty="0">
                <a:effectLst/>
                <a:latin typeface="Times New Roman" panose="02020603050405020304" pitchFamily="18" charset="0"/>
                <a:ea typeface="Times New Roman" panose="02020603050405020304" pitchFamily="18" charset="0"/>
              </a:rPr>
              <a:t>, </a:t>
            </a:r>
            <a:r>
              <a:rPr lang="en-US" sz="1800" dirty="0" smtClean="0">
                <a:effectLst/>
                <a:latin typeface="Times New Roman" panose="02020603050405020304" pitchFamily="18" charset="0"/>
                <a:ea typeface="Times New Roman" panose="02020603050405020304" pitchFamily="18" charset="0"/>
              </a:rPr>
              <a:t>						</a:t>
            </a:r>
            <a:r>
              <a:rPr lang="en-US" sz="1800" dirty="0" err="1" smtClean="0">
                <a:effectLst/>
                <a:latin typeface="Times New Roman" panose="02020603050405020304" pitchFamily="18" charset="0"/>
                <a:ea typeface="Times New Roman" panose="02020603050405020304" pitchFamily="18" charset="0"/>
              </a:rPr>
              <a:t>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Smtplib</a:t>
            </a:r>
            <a:r>
              <a:rPr lang="en-US" sz="1800" dirty="0">
                <a:effectLst/>
                <a:latin typeface="Times New Roman" panose="02020603050405020304" pitchFamily="18" charset="0"/>
                <a:ea typeface="Times New Roman" panose="02020603050405020304" pitchFamily="18" charset="0"/>
              </a:rPr>
              <a:t>, </a:t>
            </a:r>
            <a:r>
              <a:rPr lang="en-US" sz="1800" dirty="0" err="1" smtClean="0">
                <a:effectLst/>
                <a:latin typeface="Times New Roman" panose="02020603050405020304" pitchFamily="18" charset="0"/>
                <a:ea typeface="Times New Roman" panose="02020603050405020304" pitchFamily="18" charset="0"/>
              </a:rPr>
              <a:t>Numpy</a:t>
            </a:r>
            <a:r>
              <a:rPr lang="en-US" sz="1800" dirty="0" smtClean="0">
                <a:effectLst/>
                <a:latin typeface="Times New Roman" panose="02020603050405020304" pitchFamily="18" charset="0"/>
                <a:ea typeface="Times New Roman" panose="02020603050405020304" pitchFamily="18" charset="0"/>
              </a:rPr>
              <a:t>, web3,truffle, 						Ganache</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IDE/Workbench		:  PyCharm</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Technology			:  Python 3.6+</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Deployment		:  </a:t>
            </a:r>
            <a:r>
              <a:rPr lang="en-US" sz="1800" dirty="0" err="1">
                <a:effectLst/>
                <a:latin typeface="Times New Roman" panose="02020603050405020304" pitchFamily="18" charset="0"/>
                <a:ea typeface="Times New Roman" panose="02020603050405020304" pitchFamily="18" charset="0"/>
              </a:rPr>
              <a:t>Xampp</a:t>
            </a:r>
            <a:r>
              <a:rPr lang="en-US" sz="1800" dirty="0">
                <a:effectLst/>
                <a:latin typeface="Times New Roman" panose="02020603050405020304" pitchFamily="18" charset="0"/>
                <a:ea typeface="Times New Roman" panose="02020603050405020304" pitchFamily="18" charset="0"/>
              </a:rPr>
              <a:t> Server</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0074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0C645EC4-62DB-41F7-B3DE-988104FF237C}"/>
              </a:ext>
            </a:extLst>
          </p:cNvPr>
          <p:cNvPicPr/>
          <p:nvPr/>
        </p:nvPicPr>
        <p:blipFill>
          <a:blip r:embed="rId2"/>
          <a:stretch>
            <a:fillRect/>
          </a:stretch>
        </p:blipFill>
        <p:spPr>
          <a:xfrm>
            <a:off x="4229100" y="1700212"/>
            <a:ext cx="3733800" cy="3457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45D0A6-441F-0398-CB61-EB681077FCAE}"/>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C2AB13-338D-6F68-BD56-9D7C9ED68D61}"/>
              </a:ext>
            </a:extLst>
          </p:cNvPr>
          <p:cNvSpPr txBox="1"/>
          <p:nvPr/>
        </p:nvSpPr>
        <p:spPr>
          <a:xfrm>
            <a:off x="1005840" y="1286843"/>
            <a:ext cx="10485120" cy="3785652"/>
          </a:xfrm>
          <a:prstGeom prst="rect">
            <a:avLst/>
          </a:prstGeom>
          <a:noFill/>
        </p:spPr>
        <p:txBody>
          <a:bodyPr wrap="square">
            <a:spAutoFit/>
          </a:bodyPr>
          <a:lstStyle/>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To develop a decentralized traceability for agriculture supply chains, you can break down the functionality into several modules for the different user roles: Buyer, Seller, and Admin. Here are the modules for each role:</a:t>
            </a:r>
          </a:p>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Admin:</a:t>
            </a:r>
          </a:p>
          <a:p>
            <a:pPr marL="800100" indent="-342900" algn="just">
              <a:lnSpc>
                <a:spcPct val="150000"/>
              </a:lnSpc>
              <a:buFont typeface="Arial" panose="020B0604020202020204" pitchFamily="34" charset="0"/>
              <a:buChar char="•"/>
              <a:tabLst>
                <a:tab pos="457200" algn="l"/>
              </a:tabLst>
            </a:pPr>
            <a:r>
              <a:rPr lang="en-US" sz="2000" dirty="0" smtClean="0">
                <a:latin typeface="Times New Roman" panose="02020603050405020304" pitchFamily="18" charset="0"/>
                <a:ea typeface="Times New Roman" panose="02020603050405020304" pitchFamily="18" charset="0"/>
              </a:rPr>
              <a:t>Login</a:t>
            </a:r>
            <a:r>
              <a:rPr lang="en-US" sz="2000" dirty="0">
                <a:latin typeface="Times New Roman" panose="02020603050405020304" pitchFamily="18" charset="0"/>
                <a:ea typeface="Times New Roman" panose="02020603050405020304" pitchFamily="18" charset="0"/>
              </a:rPr>
              <a:t>: The admin will login with default email and password.</a:t>
            </a:r>
          </a:p>
          <a:p>
            <a:pPr marL="800100" indent="-342900" algn="just">
              <a:lnSpc>
                <a:spcPct val="150000"/>
              </a:lnSpc>
              <a:buFont typeface="Arial" panose="020B0604020202020204" pitchFamily="34" charset="0"/>
              <a:buChar char="•"/>
              <a:tabLst>
                <a:tab pos="457200" algn="l"/>
              </a:tabLst>
            </a:pPr>
            <a:r>
              <a:rPr lang="en-US" sz="2000" dirty="0" smtClean="0">
                <a:latin typeface="Times New Roman" panose="02020603050405020304" pitchFamily="18" charset="0"/>
                <a:ea typeface="Times New Roman" panose="02020603050405020304" pitchFamily="18" charset="0"/>
              </a:rPr>
              <a:t>Crop </a:t>
            </a:r>
            <a:r>
              <a:rPr lang="en-US" sz="2000" dirty="0">
                <a:latin typeface="Times New Roman" panose="02020603050405020304" pitchFamily="18" charset="0"/>
                <a:ea typeface="Times New Roman" panose="02020603050405020304" pitchFamily="18" charset="0"/>
              </a:rPr>
              <a:t>price: The admin is the person he/ she will add the crop price for each and every crop details </a:t>
            </a:r>
            <a:r>
              <a:rPr lang="en-US" sz="2000" dirty="0" smtClean="0">
                <a:latin typeface="Times New Roman" panose="02020603050405020304" pitchFamily="18" charset="0"/>
                <a:ea typeface="Times New Roman" panose="02020603050405020304" pitchFamily="18" charset="0"/>
              </a:rPr>
              <a:t>     with </a:t>
            </a:r>
            <a:r>
              <a:rPr lang="en-US" sz="2000" dirty="0">
                <a:latin typeface="Times New Roman" panose="02020603050405020304" pitchFamily="18" charset="0"/>
                <a:ea typeface="Times New Roman" panose="02020603050405020304" pitchFamily="18" charset="0"/>
              </a:rPr>
              <a:t>that crop name, category, maximum cost, minimum cost and quantity.</a:t>
            </a:r>
          </a:p>
          <a:p>
            <a:pPr marL="800100" indent="-342900" algn="just">
              <a:lnSpc>
                <a:spcPct val="150000"/>
              </a:lnSpc>
              <a:buFont typeface="Arial" panose="020B0604020202020204" pitchFamily="34" charset="0"/>
              <a:buChar char="•"/>
              <a:tabLst>
                <a:tab pos="457200" algn="l"/>
              </a:tabLst>
            </a:pPr>
            <a:r>
              <a:rPr lang="en-US" sz="2000" dirty="0" smtClean="0">
                <a:latin typeface="Times New Roman" panose="02020603050405020304" pitchFamily="18" charset="0"/>
                <a:ea typeface="Times New Roman" panose="02020603050405020304" pitchFamily="18" charset="0"/>
              </a:rPr>
              <a:t>Logout</a:t>
            </a:r>
            <a:r>
              <a:rPr lang="en-US" sz="2000" dirty="0">
                <a:latin typeface="Times New Roman" panose="02020603050405020304" pitchFamily="18" charset="0"/>
                <a:ea typeface="Times New Roman" panose="02020603050405020304" pitchFamily="18" charset="0"/>
              </a:rPr>
              <a:t>: Allows the admin to log out securely.</a:t>
            </a:r>
          </a:p>
        </p:txBody>
      </p:sp>
    </p:spTree>
    <p:extLst>
      <p:ext uri="{BB962C8B-B14F-4D97-AF65-F5344CB8AC3E}">
        <p14:creationId xmlns:p14="http://schemas.microsoft.com/office/powerpoint/2010/main" val="4204820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DB515D-B171-3EDA-6D9B-043FF5A00826}"/>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9B8D3-7A75-38E6-A244-4C0BAC55C605}"/>
              </a:ext>
            </a:extLst>
          </p:cNvPr>
          <p:cNvSpPr txBox="1"/>
          <p:nvPr/>
        </p:nvSpPr>
        <p:spPr>
          <a:xfrm>
            <a:off x="623444" y="1124073"/>
            <a:ext cx="10410094" cy="4613058"/>
          </a:xfrm>
          <a:prstGeom prst="rect">
            <a:avLst/>
          </a:prstGeom>
          <a:noFill/>
        </p:spPr>
        <p:txBody>
          <a:bodyPr wrap="square">
            <a:spAutoFit/>
          </a:bodyPr>
          <a:lstStyle/>
          <a:p>
            <a:pPr marL="457200" algn="just">
              <a:lnSpc>
                <a:spcPct val="150000"/>
              </a:lnSpc>
              <a:tabLst>
                <a:tab pos="457200" algn="l"/>
              </a:tabLst>
            </a:pPr>
            <a:r>
              <a:rPr lang="en-US" dirty="0">
                <a:latin typeface="Times New Roman" panose="02020603050405020304" pitchFamily="18" charset="0"/>
                <a:ea typeface="Times New Roman" panose="02020603050405020304" pitchFamily="18" charset="0"/>
              </a:rPr>
              <a:t>Buyer:</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Register</a:t>
            </a:r>
            <a:r>
              <a:rPr lang="en-US" dirty="0">
                <a:latin typeface="Times New Roman" panose="02020603050405020304" pitchFamily="18" charset="0"/>
                <a:ea typeface="Times New Roman" panose="02020603050405020304" pitchFamily="18" charset="0"/>
              </a:rPr>
              <a:t>: The buyer will register with their details like name, email, password, address, contact, so after that the buyer will login.</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Login</a:t>
            </a:r>
            <a:r>
              <a:rPr lang="en-US" dirty="0">
                <a:latin typeface="Times New Roman" panose="02020603050405020304" pitchFamily="18" charset="0"/>
                <a:ea typeface="Times New Roman" panose="02020603050405020304" pitchFamily="18" charset="0"/>
              </a:rPr>
              <a:t>: After registration the buyer will login with their details.</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View </a:t>
            </a:r>
            <a:r>
              <a:rPr lang="en-US" dirty="0">
                <a:latin typeface="Times New Roman" panose="02020603050405020304" pitchFamily="18" charset="0"/>
                <a:ea typeface="Times New Roman" panose="02020603050405020304" pitchFamily="18" charset="0"/>
              </a:rPr>
              <a:t>Seller's Crop Information: Once the sellers will add the details the buyer can view those details here.</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Send </a:t>
            </a:r>
            <a:r>
              <a:rPr lang="en-US" dirty="0">
                <a:latin typeface="Times New Roman" panose="02020603050405020304" pitchFamily="18" charset="0"/>
                <a:ea typeface="Times New Roman" panose="02020603050405020304" pitchFamily="18" charset="0"/>
              </a:rPr>
              <a:t>Request to Seller: If the buyer wants the details of crop then buyer will send request to seller.</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View </a:t>
            </a:r>
            <a:r>
              <a:rPr lang="en-US" dirty="0">
                <a:latin typeface="Times New Roman" panose="02020603050405020304" pitchFamily="18" charset="0"/>
                <a:ea typeface="Times New Roman" panose="02020603050405020304" pitchFamily="18" charset="0"/>
              </a:rPr>
              <a:t>Seller Requests: Displays responses from sellers to the buyer's requests.</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Make </a:t>
            </a:r>
            <a:r>
              <a:rPr lang="en-US" dirty="0">
                <a:latin typeface="Times New Roman" panose="02020603050405020304" pitchFamily="18" charset="0"/>
                <a:ea typeface="Times New Roman" panose="02020603050405020304" pitchFamily="18" charset="0"/>
              </a:rPr>
              <a:t>Payment: Once the seller accept the request for the crop the buyer has to pay the amount for that crop.</a:t>
            </a:r>
          </a:p>
          <a:p>
            <a:pPr marL="742950" indent="-285750" algn="just">
              <a:lnSpc>
                <a:spcPct val="150000"/>
              </a:lnSpc>
              <a:buFont typeface="Arial" panose="020B0604020202020204" pitchFamily="34" charset="0"/>
              <a:buChar char="•"/>
              <a:tabLst>
                <a:tab pos="457200" algn="l"/>
              </a:tabLst>
            </a:pPr>
            <a:r>
              <a:rPr lang="en-US" dirty="0" smtClean="0">
                <a:latin typeface="Times New Roman" panose="02020603050405020304" pitchFamily="18" charset="0"/>
                <a:ea typeface="Times New Roman" panose="02020603050405020304" pitchFamily="18" charset="0"/>
              </a:rPr>
              <a:t>Logout</a:t>
            </a:r>
            <a:r>
              <a:rPr lang="en-US" dirty="0">
                <a:latin typeface="Times New Roman" panose="02020603050405020304" pitchFamily="18" charset="0"/>
                <a:ea typeface="Times New Roman" panose="02020603050405020304" pitchFamily="18" charset="0"/>
              </a:rPr>
              <a:t>: Allows buyers to logout securely.</a:t>
            </a:r>
          </a:p>
        </p:txBody>
      </p:sp>
    </p:spTree>
    <p:extLst>
      <p:ext uri="{BB962C8B-B14F-4D97-AF65-F5344CB8AC3E}">
        <p14:creationId xmlns:p14="http://schemas.microsoft.com/office/powerpoint/2010/main" val="250254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9D0988-F6FA-8AAC-2E3A-4B5BEAF18272}"/>
              </a:ext>
            </a:extLst>
          </p:cNvPr>
          <p:cNvSpPr txBox="1"/>
          <p:nvPr/>
        </p:nvSpPr>
        <p:spPr>
          <a:xfrm>
            <a:off x="3770141" y="140677"/>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6DFE833-A001-2967-BACD-6929BEF5FC5B}"/>
              </a:ext>
            </a:extLst>
          </p:cNvPr>
          <p:cNvSpPr txBox="1"/>
          <p:nvPr/>
        </p:nvSpPr>
        <p:spPr>
          <a:xfrm>
            <a:off x="758985" y="1324428"/>
            <a:ext cx="10325686" cy="4662815"/>
          </a:xfrm>
          <a:prstGeom prst="rect">
            <a:avLst/>
          </a:prstGeom>
          <a:noFill/>
        </p:spPr>
        <p:txBody>
          <a:bodyPr wrap="square">
            <a:spAutoFit/>
          </a:bodyPr>
          <a:lstStyle/>
          <a:p>
            <a:pPr marL="457200" algn="just">
              <a:lnSpc>
                <a:spcPct val="150000"/>
              </a:lnSpc>
              <a:tabLst>
                <a:tab pos="457200" algn="l"/>
              </a:tabLst>
            </a:pPr>
            <a:r>
              <a:rPr lang="en-US" b="1" dirty="0">
                <a:latin typeface="Times New Roman" panose="02020603050405020304" pitchFamily="18" charset="0"/>
                <a:ea typeface="Times New Roman" panose="02020603050405020304" pitchFamily="18" charset="0"/>
              </a:rPr>
              <a:t>Seller:</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Register</a:t>
            </a:r>
            <a:r>
              <a:rPr lang="en-US" b="1" dirty="0">
                <a:latin typeface="Times New Roman" panose="02020603050405020304" pitchFamily="18" charset="0"/>
                <a:ea typeface="Times New Roman" panose="02020603050405020304" pitchFamily="18" charset="0"/>
              </a:rPr>
              <a:t>: The seller will register with their details like name, email, password,   address, contact, so after that the seller will login.</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Login</a:t>
            </a:r>
            <a:r>
              <a:rPr lang="en-US" b="1" dirty="0">
                <a:latin typeface="Times New Roman" panose="02020603050405020304" pitchFamily="18" charset="0"/>
                <a:ea typeface="Times New Roman" panose="02020603050405020304" pitchFamily="18" charset="0"/>
              </a:rPr>
              <a:t>: After registration the seller will login with their details.</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Provide </a:t>
            </a:r>
            <a:r>
              <a:rPr lang="en-US" b="1" dirty="0">
                <a:latin typeface="Times New Roman" panose="02020603050405020304" pitchFamily="18" charset="0"/>
                <a:ea typeface="Times New Roman" panose="02020603050405020304" pitchFamily="18" charset="0"/>
              </a:rPr>
              <a:t>Crop Information: The seller will add there crop details like (crop name, crop category, and quantity and quality). </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View </a:t>
            </a:r>
            <a:r>
              <a:rPr lang="en-US" b="1" dirty="0">
                <a:latin typeface="Times New Roman" panose="02020603050405020304" pitchFamily="18" charset="0"/>
                <a:ea typeface="Times New Roman" panose="02020603050405020304" pitchFamily="18" charset="0"/>
              </a:rPr>
              <a:t>Buyer Requests: When the buyer will send the request for the crop, here the buyer will view and he/she has to accept the request.</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View </a:t>
            </a:r>
            <a:r>
              <a:rPr lang="en-US" b="1" dirty="0">
                <a:latin typeface="Times New Roman" panose="02020603050405020304" pitchFamily="18" charset="0"/>
                <a:ea typeface="Times New Roman" panose="02020603050405020304" pitchFamily="18" charset="0"/>
              </a:rPr>
              <a:t>Payments: Once the buyer will pay the amount for the crops. The seller can view the details of the payment.</a:t>
            </a:r>
          </a:p>
          <a:p>
            <a:pPr marL="742950" indent="-285750" algn="just">
              <a:lnSpc>
                <a:spcPct val="150000"/>
              </a:lnSpc>
              <a:buFont typeface="Arial" panose="020B0604020202020204" pitchFamily="34" charset="0"/>
              <a:buChar char="•"/>
              <a:tabLst>
                <a:tab pos="457200" algn="l"/>
              </a:tabLst>
            </a:pPr>
            <a:r>
              <a:rPr lang="en-US" b="1" dirty="0" smtClean="0">
                <a:latin typeface="Times New Roman" panose="02020603050405020304" pitchFamily="18" charset="0"/>
                <a:ea typeface="Times New Roman" panose="02020603050405020304" pitchFamily="18" charset="0"/>
              </a:rPr>
              <a:t>Logout</a:t>
            </a:r>
            <a:r>
              <a:rPr lang="en-US" b="1" dirty="0">
                <a:latin typeface="Times New Roman" panose="02020603050405020304" pitchFamily="18" charset="0"/>
                <a:ea typeface="Times New Roman" panose="02020603050405020304" pitchFamily="18" charset="0"/>
              </a:rPr>
              <a:t>: Allows sellers to logout securely.</a:t>
            </a:r>
          </a:p>
        </p:txBody>
      </p:sp>
    </p:spTree>
    <p:extLst>
      <p:ext uri="{BB962C8B-B14F-4D97-AF65-F5344CB8AC3E}">
        <p14:creationId xmlns:p14="http://schemas.microsoft.com/office/powerpoint/2010/main" val="1304141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PlaceHolder 2">
            <a:extLst>
              <a:ext uri="{FF2B5EF4-FFF2-40B4-BE49-F238E27FC236}">
                <a16:creationId xmlns:a16="http://schemas.microsoft.com/office/drawing/2014/main" id="{CC44C9A8-D3C7-7224-24A7-8EEC2F6EBBCD}"/>
              </a:ext>
            </a:extLst>
          </p:cNvPr>
          <p:cNvSpPr txBox="1">
            <a:spLocks/>
          </p:cNvSpPr>
          <p:nvPr/>
        </p:nvSpPr>
        <p:spPr>
          <a:xfrm>
            <a:off x="135271" y="1208314"/>
            <a:ext cx="11921218" cy="4234543"/>
          </a:xfrm>
          <a:prstGeom prst="rect">
            <a:avLst/>
          </a:prstGeom>
          <a:noFill/>
          <a:ln w="0">
            <a:noFill/>
          </a:ln>
        </p:spPr>
        <p:txBody>
          <a:bodyPr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[1] Shivendra, Chiranjeevi,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Tipathi</a:t>
            </a:r>
            <a:r>
              <a:rPr lang="en-US" kern="100" dirty="0">
                <a:latin typeface="Times New Roman" panose="02020603050405020304" pitchFamily="18" charset="0"/>
                <a:ea typeface="Calibri" panose="020F0502020204030204" pitchFamily="34" charset="0"/>
                <a:cs typeface="Times New Roman" panose="02020603050405020304" pitchFamily="18" charset="0"/>
              </a:rPr>
              <a:t>, M.K</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rPr>
              <a:t>&amp;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Maktedar</a:t>
            </a:r>
            <a:r>
              <a:rPr lang="en-US"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hlinkClick r:id="rId2"/>
              </a:rPr>
              <a:t>“</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2"/>
              </a:rPr>
              <a:t>Blockchain Technology       in Agriculture Product Supply Chain</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a:t>
            </a: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[2]</a:t>
            </a:r>
            <a:r>
              <a:rPr lang="en-IN" sz="2000" spc="-1" dirty="0">
                <a:solidFill>
                  <a:srgbClr val="0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itchFamily="18" charset="0"/>
              </a:rPr>
              <a:t>K. Salah N. Nizamuddin R. Jayaraman and M. Omar, "</a:t>
            </a:r>
            <a:r>
              <a:rPr lang="en-US" sz="2000" dirty="0">
                <a:latin typeface="Times New Roman" panose="02020603050405020304" pitchFamily="18" charset="0"/>
                <a:cs typeface="Times New Roman" pitchFamily="18" charset="0"/>
                <a:hlinkClick r:id="rId3"/>
              </a:rPr>
              <a:t>Blockchain-based soyabean traceability in agricultural supply chain</a:t>
            </a:r>
            <a:r>
              <a:rPr lang="en-US" sz="2000" dirty="0">
                <a:latin typeface="Times New Roman" panose="02020603050405020304" pitchFamily="18" charset="0"/>
                <a:cs typeface="Times New Roman" pitchFamily="18" charset="0"/>
              </a:rPr>
              <a:t>" IEEE Access vol. 7 pp. 73295-73305 2019.</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[3] </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4"/>
              </a:rPr>
              <a:t>“Agricultural marketing and Agri-Business in India” </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sz="2000" kern="100" spc="-1" dirty="0">
                <a:latin typeface="Times New Roman" panose="02020603050405020304" pitchFamily="18" charset="0"/>
                <a:cs typeface="Times New Roman" panose="02020603050405020304" pitchFamily="18" charset="0"/>
              </a:rPr>
              <a:t>[4] </a:t>
            </a:r>
            <a:r>
              <a:rPr lang="en-US" sz="2000" kern="100" spc="-1" dirty="0">
                <a:solidFill>
                  <a:srgbClr val="000000"/>
                </a:solidFill>
                <a:latin typeface="Times New Roman" panose="02020603050405020304" pitchFamily="18" charset="0"/>
                <a:cs typeface="Times New Roman" panose="02020603050405020304" pitchFamily="18" charset="0"/>
                <a:hlinkClick r:id="rId5"/>
              </a:rPr>
              <a:t>“e-National Agriculture Market - approaches for generating awareness</a:t>
            </a:r>
            <a:r>
              <a:rPr lang="en-US" sz="2000" kern="100" spc="-1" dirty="0">
                <a:solidFill>
                  <a:srgbClr val="000000"/>
                </a:solidFill>
                <a:latin typeface="Times New Roman" panose="02020603050405020304" pitchFamily="18" charset="0"/>
                <a:cs typeface="Times New Roman" panose="02020603050405020304" pitchFamily="18" charset="0"/>
              </a:rPr>
              <a:t>”</a:t>
            </a:r>
            <a:endParaRPr lang="en-US"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29" y="1318977"/>
            <a:ext cx="11956868" cy="5175776"/>
          </a:xfrm>
          <a:prstGeom prst="rect">
            <a:avLst/>
          </a:prstGeom>
        </p:spPr>
        <p:txBody>
          <a:bodyPr wrap="square">
            <a:spAutoFit/>
          </a:bodyPr>
          <a:lstStyle/>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[5] L. U.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Opara</a:t>
            </a:r>
            <a:r>
              <a:rPr lang="en-IN" kern="100" dirty="0">
                <a:latin typeface="Times New Roman" panose="02020603050405020304" pitchFamily="18" charset="0"/>
                <a:ea typeface="Calibri" panose="020F0502020204030204" pitchFamily="34" charset="0"/>
                <a:cs typeface="Times New Roman" panose="02020603050405020304" pitchFamily="18" charset="0"/>
              </a:rPr>
              <a:t> and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Mazaud</a:t>
            </a:r>
            <a:r>
              <a:rPr lang="en-IN" kern="100" dirty="0">
                <a:latin typeface="Times New Roman" panose="02020603050405020304" pitchFamily="18" charset="0"/>
                <a:ea typeface="Calibri" panose="020F0502020204030204" pitchFamily="34" charset="0"/>
                <a:cs typeface="Times New Roman" panose="02020603050405020304" pitchFamily="18" charset="0"/>
              </a:rPr>
              <a:t>, ‘‘Food traceability from field to plate,’’ Outlook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30, no. 2, pp. 239–247, 2001.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[6]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Dabbene</a:t>
            </a:r>
            <a:r>
              <a:rPr lang="en-IN" kern="100" dirty="0">
                <a:latin typeface="Times New Roman" panose="02020603050405020304" pitchFamily="18" charset="0"/>
                <a:ea typeface="Calibri" panose="020F0502020204030204" pitchFamily="34" charset="0"/>
                <a:cs typeface="Times New Roman" panose="02020603050405020304" pitchFamily="18" charset="0"/>
              </a:rPr>
              <a:t> and P. Gay, ‘‘Food traceability systems: Performance evaluation and optimization,’’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Electron.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75, no. 2, pp. 139–146, 2011.</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[7] J.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Storoy</a:t>
            </a:r>
            <a:r>
              <a:rPr lang="en-IN" kern="100" dirty="0">
                <a:latin typeface="Times New Roman" panose="02020603050405020304" pitchFamily="18" charset="0"/>
                <a:ea typeface="Calibri" panose="020F0502020204030204" pitchFamily="34" charset="0"/>
                <a:cs typeface="Times New Roman" panose="02020603050405020304" pitchFamily="18" charset="0"/>
              </a:rPr>
              <a:t>, M. Thakur, and P. Olsen,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TraceFood</a:t>
            </a:r>
            <a:r>
              <a:rPr lang="en-IN" kern="100" dirty="0">
                <a:latin typeface="Times New Roman" panose="02020603050405020304" pitchFamily="18" charset="0"/>
                <a:ea typeface="Calibri" panose="020F0502020204030204" pitchFamily="34" charset="0"/>
                <a:cs typeface="Times New Roman" panose="02020603050405020304" pitchFamily="18" charset="0"/>
              </a:rPr>
              <a:t> framework— Principles and guidelines for implementing traceability in food value chain,’’ J. Food Eng., vol. 115, no. 2, pp. 41–48, 2013.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[8] M. A. Khan and K. Salah,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IoT</a:t>
            </a:r>
            <a:r>
              <a:rPr lang="en-IN" kern="100" dirty="0">
                <a:latin typeface="Times New Roman" panose="02020603050405020304" pitchFamily="18" charset="0"/>
                <a:ea typeface="Calibri" panose="020F0502020204030204" pitchFamily="34" charset="0"/>
                <a:cs typeface="Times New Roman" panose="02020603050405020304" pitchFamily="18" charset="0"/>
              </a:rPr>
              <a:t> security: Review,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solutions, and open challenges,’’ Future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Gener</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Syst., vol. 82, pp. 395–411, May 2018.</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[9] L. Lucas. Financial Times. (2018). From Farm to Plate,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Dishes Up Simple Food Tracking. Accessed: Jun. 12, 2018. [Online]. Available: </a:t>
            </a:r>
            <a:r>
              <a:rPr lang="en-IN" u="sng" kern="100"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2"/>
              </a:rPr>
              <a:t>https://www.ft.com/content/225d32bc-4dfa-11e8-97e4-13afc22d86d4</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[10]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Bogner</a:t>
            </a:r>
            <a:r>
              <a:rPr lang="en-IN" kern="100" dirty="0">
                <a:latin typeface="Times New Roman" panose="02020603050405020304" pitchFamily="18" charset="0"/>
                <a:ea typeface="Calibri" panose="020F0502020204030204" pitchFamily="34" charset="0"/>
                <a:cs typeface="Times New Roman" panose="02020603050405020304" pitchFamily="18" charset="0"/>
              </a:rPr>
              <a:t>, M. Chanson, and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Meeuw</a:t>
            </a:r>
            <a:r>
              <a:rPr lang="en-IN" kern="100" dirty="0">
                <a:latin typeface="Times New Roman" panose="02020603050405020304" pitchFamily="18" charset="0"/>
                <a:ea typeface="Calibri" panose="020F0502020204030204" pitchFamily="34" charset="0"/>
                <a:cs typeface="Times New Roman" panose="02020603050405020304" pitchFamily="18" charset="0"/>
              </a:rPr>
              <a:t>, ‘‘A decentralised sharing app running a smart contract on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Ethereum</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in Proc. 6th Int. Conf. Internet Things, 2016, pp. 177–178.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val="1517682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1396</TotalTime>
  <Words>2856</Words>
  <Application>Microsoft Office PowerPoint</Application>
  <PresentationFormat>Widescreen</PresentationFormat>
  <Paragraphs>161</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SimSun</vt:lpstr>
      <vt:lpstr>Arial</vt:lpstr>
      <vt:lpstr>Calibri</vt:lpstr>
      <vt:lpstr>Calibri Light</vt:lpstr>
      <vt:lpstr>Times New Roman</vt:lpstr>
      <vt:lpstr>Trebuchet MS</vt:lpstr>
      <vt:lpstr>Tw Cen MT</vt:lpstr>
      <vt:lpstr>Wingdings</vt:lpstr>
      <vt:lpstr>Wingdings 3</vt:lpstr>
      <vt:lpstr>Circuit</vt:lpstr>
      <vt:lpstr>Decentralized Traceability And Direct Marketing Of Agriculture Supply Chains With QR Scanner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Decentralized Traceability And Direct Marketing Of Agriculture Supply Chains</dc:title>
  <dc:creator>Bathala Vishnu</dc:creator>
  <cp:lastModifiedBy>Ketineni Vengababu</cp:lastModifiedBy>
  <cp:revision>34</cp:revision>
  <dcterms:created xsi:type="dcterms:W3CDTF">2023-09-29T12:08:36Z</dcterms:created>
  <dcterms:modified xsi:type="dcterms:W3CDTF">2026-02-10T07:48:21Z</dcterms:modified>
</cp:coreProperties>
</file>